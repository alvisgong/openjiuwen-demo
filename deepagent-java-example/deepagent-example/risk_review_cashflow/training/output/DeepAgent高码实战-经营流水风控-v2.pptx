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91725433f140c6" /><Relationship Type="http://schemas.openxmlformats.org/officeDocument/2006/relationships/extended-properties" Target="/docProps/app.xml" Id="Re24358bef02b4258" /><Relationship Type="http://schemas.openxmlformats.org/officeDocument/2006/relationships/officeDocument" Target="/ppt/presentation.xml" Id="R57e095dc02a342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9be8599fd744bc"/>
  </p:sldMasterIdLst>
  <p:notesMasterIdLst>
    <p:notesMasterId xmlns:r="http://schemas.openxmlformats.org/officeDocument/2006/relationships" r:id="R4e8146abee5a4a0d"/>
  </p:notesMasterIdLst>
  <p:sldIdLst>
    <p:sldId xmlns:r="http://schemas.openxmlformats.org/officeDocument/2006/relationships" id="256" r:id="Rc6fdec552864470e"/>
    <p:sldId xmlns:r="http://schemas.openxmlformats.org/officeDocument/2006/relationships" id="257" r:id="Ra7ca8083f5054a1f"/>
    <p:sldId xmlns:r="http://schemas.openxmlformats.org/officeDocument/2006/relationships" id="258" r:id="Reff2474daefe4fdd"/>
    <p:sldId xmlns:r="http://schemas.openxmlformats.org/officeDocument/2006/relationships" id="259" r:id="R67560b640b894875"/>
    <p:sldId xmlns:r="http://schemas.openxmlformats.org/officeDocument/2006/relationships" id="260" r:id="Rb36f363475eb4b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50d401db61421d" /><Relationship Type="http://schemas.openxmlformats.org/officeDocument/2006/relationships/slideMaster" Target="/ppt/slideMasters/slideMaster1.xml" Id="Re49be8599fd744bc" /><Relationship Type="http://schemas.openxmlformats.org/officeDocument/2006/relationships/notesMaster" Target="/ppt/notesMasters/notesMaster1.xml" Id="R4e8146abee5a4a0d" /><Relationship Type="http://schemas.openxmlformats.org/officeDocument/2006/relationships/presProps" Target="/ppt/presProps.xml" Id="Red509eedb91d4f61" /><Relationship Type="http://schemas.openxmlformats.org/officeDocument/2006/relationships/tableStyles" Target="/ppt/tableStyles.xml" Id="Rd24bf52095eb47ff" /><Relationship Type="http://schemas.openxmlformats.org/officeDocument/2006/relationships/slide" Target="/ppt/slides/slide1.xml" Id="Rc6fdec552864470e" /><Relationship Type="http://schemas.openxmlformats.org/officeDocument/2006/relationships/slide" Target="/ppt/slides/slide2.xml" Id="Ra7ca8083f5054a1f" /><Relationship Type="http://schemas.openxmlformats.org/officeDocument/2006/relationships/slide" Target="/ppt/slides/slide3.xml" Id="Reff2474daefe4fdd" /><Relationship Type="http://schemas.openxmlformats.org/officeDocument/2006/relationships/slide" Target="/ppt/slides/slide4.xml" Id="R67560b640b894875" /><Relationship Type="http://schemas.openxmlformats.org/officeDocument/2006/relationships/slide" Target="/ppt/slides/slide5.xml" Id="Rb36f363475eb4b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c11407035045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bf23f279144eaa" /><Relationship Type="http://schemas.openxmlformats.org/officeDocument/2006/relationships/notesMaster" Target="/ppt/notesMasters/notesMaster1.xml" Id="Rb13e282dacc242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0b425dba3a4fed" /><Relationship Type="http://schemas.openxmlformats.org/officeDocument/2006/relationships/notesMaster" Target="/ppt/notesMasters/notesMaster1.xml" Id="Rf2b90f03113944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cf8f347b3345f0" /><Relationship Type="http://schemas.openxmlformats.org/officeDocument/2006/relationships/notesMaster" Target="/ppt/notesMasters/notesMaster1.xml" Id="Rcc30a66cfdff4e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b062b517a74519" /><Relationship Type="http://schemas.openxmlformats.org/officeDocument/2006/relationships/notesMaster" Target="/ppt/notesMasters/notesMaster1.xml" Id="R890b765f023445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e4570a27ff4a85" /><Relationship Type="http://schemas.openxmlformats.org/officeDocument/2006/relationships/notesMaster" Target="/ppt/notesMasters/notesMaster1.xml" Id="R1e4320a074b040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4c95dd1174d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9885257ad4d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85422695d48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832d909ed42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f8ca510f942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b751b2be74d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8DC5D6-0EB5-40E9-BEFC-41112FCAD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8A5C5EF-5164-4D32-98BE-DB2BF141B9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282AE5-6C26-40DF-84B1-CCB6AA5590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04B93A-E216-42FE-BC4B-1B09E3DCE9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C32DEF-B605-4238-962E-2A5305DF83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145789-C1FC-46EC-AF4F-47D3FCBCE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735343-F997-475B-B4C1-88D1DEAF3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B31066-5B79-4388-AF58-CF2FC507D7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039835-1EEE-4E26-8C67-5FD5F60E6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606914-8154-479E-BB1D-B17F296EFA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2cf1e675b04f37" /><Relationship Type="http://schemas.openxmlformats.org/officeDocument/2006/relationships/slideLayout" Target="/ppt/slideLayouts/slideLayout1.xml" Id="Rf8a04eff808d4d17" /><Relationship Type="http://schemas.openxmlformats.org/officeDocument/2006/relationships/slideLayout" Target="/ppt/slideLayouts/slideLayout2.xml" Id="Ra7e5926afe284150" /><Relationship Type="http://schemas.openxmlformats.org/officeDocument/2006/relationships/slideLayout" Target="/ppt/slideLayouts/slideLayout3.xml" Id="R11e963d11e114e04" /><Relationship Type="http://schemas.openxmlformats.org/officeDocument/2006/relationships/slideLayout" Target="/ppt/slideLayouts/slideLayout4.xml" Id="R74b3ce8c4ac443f6" /><Relationship Type="http://schemas.openxmlformats.org/officeDocument/2006/relationships/slideLayout" Target="/ppt/slideLayouts/slideLayout5.xml" Id="Rffbb9c9da2564de8" /><Relationship Type="http://schemas.openxmlformats.org/officeDocument/2006/relationships/slideLayout" Target="/ppt/slideLayouts/slideLayout6.xml" Id="Rd2048290aefa4b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a04eff808d4d17"/>
    <p:sldLayoutId xmlns:r="http://schemas.openxmlformats.org/officeDocument/2006/relationships" id="2147483650" r:id="Ra7e5926afe284150"/>
    <p:sldLayoutId xmlns:r="http://schemas.openxmlformats.org/officeDocument/2006/relationships" id="2147483651" r:id="R11e963d11e114e04"/>
    <p:sldLayoutId xmlns:r="http://schemas.openxmlformats.org/officeDocument/2006/relationships" id="2147483652" r:id="R74b3ce8c4ac443f6"/>
    <p:sldLayoutId xmlns:r="http://schemas.openxmlformats.org/officeDocument/2006/relationships" id="2147483653" r:id="Rffbb9c9da2564de8"/>
    <p:sldLayoutId xmlns:r="http://schemas.openxmlformats.org/officeDocument/2006/relationships" id="2147483654" r:id="Rd2048290aefa4b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c2a64b8fa47fa" /><Relationship Type="http://schemas.openxmlformats.org/officeDocument/2006/relationships/notesSlide" Target="/ppt/notesSlides/notesSlide1.xml" Id="R6ab395bacc9d42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df8330d2740a2" /><Relationship Type="http://schemas.openxmlformats.org/officeDocument/2006/relationships/notesSlide" Target="/ppt/notesSlides/notesSlide2.xml" Id="R60b8002272134e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9e47d99724420" /><Relationship Type="http://schemas.openxmlformats.org/officeDocument/2006/relationships/notesSlide" Target="/ppt/notesSlides/notesSlide3.xml" Id="Re4d29c10552f4e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5f435f466457b" /><Relationship Type="http://schemas.openxmlformats.org/officeDocument/2006/relationships/notesSlide" Target="/ppt/notesSlides/notesSlide4.xml" Id="Rab6dccc55c2e4d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8dd880fd57459b" /><Relationship Type="http://schemas.openxmlformats.org/officeDocument/2006/relationships/notesSlide" Target="/ppt/notesSlides/notesSlide5.xml" Id="Rd6b5031a7f6340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7A43DD-B35F-4A62-BF46-EFD72295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4419E-09EE-4556-9264-57B609C2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DEEPAGENT · HANDS-ON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B3D21-A687-4B20-84AE-49103329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DeepAgent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高码实战培训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97A9B-69CC-4D34-98A0-1236A0A7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rPr>
              <a:t>经营流水风险复核场景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DE195-3CF4-4B31-B8AF-412FABE9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用 Skill 固化领域方法，用 Tool 连接真实数据，</a:t>
            </a:r>
          </a:p>
          <a:p xmlns:a="http://schemas.openxmlformats.org/drawingml/2006/main">
            <a:pPr algn="l">
              <a:def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用 Rail 记录执行过程。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17796-E11E-493B-ACF6-5C4C6788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04950"/>
            <a:ext cx="304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15364A"/>
          </a:solidFill>
          <a:ln xmlns:a="http://schemas.openxmlformats.org/drawingml/2006/main" w="9525">
            <a:solidFill>
              <a:srgbClr val="43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1E0FA-FC89-45FB-B69B-FEAB3406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76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677AF-9765-47B9-A9B3-00A683B8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05025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推理 · 编排 · 迭代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11A6D-6AED-4236-90E9-7F55E4AB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C40"/>
          </a:solidFill>
          <a:ln xmlns:a="http://schemas.openxmlformats.org/drawingml/2006/main" w="9525">
            <a:solidFill>
              <a:srgbClr val="55D9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B492B-3923-4291-8AE3-FD1109D2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C40"/>
          </a:solidFill>
          <a:ln xmlns:a="http://schemas.openxmlformats.org/drawingml/2006/main" w="9525">
            <a:solidFill>
              <a:srgbClr val="F4B8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3FDE4-9421-4303-9DF0-06F09841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768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C40"/>
          </a:solidFill>
          <a:ln xmlns:a="http://schemas.openxmlformats.org/drawingml/2006/main" w="9525">
            <a:solidFill>
              <a:srgbClr val="43D9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CD164-5421-4F34-81F4-62489022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00DD0-3F44-48BA-A90E-CA064AE4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862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领域规约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EA03F-A56B-47C2-970D-A5EA9EAA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623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7657E-D3CB-4B6E-A4C4-0B085383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862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确定性执行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81E63-E2FA-452C-8E21-56BAA124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101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RAIL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F9B67-FB77-4937-A4D4-3C96AEC7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3340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过程观测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5197D-937B-4383-BA29-A10828D3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860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71DE8-EC61-4D68-94DB-C5E7CB35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860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16E64-49D0-42E2-8D6D-D90DA1C2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4386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19C7C-C910-4EAD-BDF1-8A9BDE1B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386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FFFA3D-D240-4E3F-8D64-FA50840C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基于 agent-core-java 样例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70555-5F08-494A-939C-6205778D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82600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2994E0-BE7B-401F-9751-6D71AC4ABAF3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467600" y="46482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A9B1"/>
            </a:solidFill>
            <a:prstDash val="solid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E2FEFD-295A-4731-8D2D-39969676F24B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6686550" y="3343275"/>
            <a:ext cx="3733800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BA9B1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930A73-DCB4-4910-9437-AC2DAC6F5201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334500" y="27908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A9B1"/>
            </a:solidFill>
            <a:prstDash val="solid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6C75BA-F24F-4E0E-8BAC-4D2A3F653D56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467600" y="27908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A9B1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6B7BC6-3FE3-4464-932D-7DADA375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154EB-78EE-40F8-B444-76CCC4B3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25176-21CB-4508-A977-45FF3073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风控需求与整体方案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DA634-1450-4EC3-A953-1E5C2970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把一期模型的风险提示，转化为有数据依据、可审计的复核意见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EB37D-07EB-4A8D-A950-3EB1F22F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DeepAgent 高码实战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8DE4A-BCC7-452C-A4DA-A33B091E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6C5D2-F562-41DD-9373-02A24A59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rPr>
              <a:t>业务约束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063A0-0E54-40BC-BF92-409DE575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64423-6AE5-4760-A180-4A36B034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14550"/>
            <a:ext cx="400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rPr>
              <a:t>一期 COT 出现经营流水下滑、负现金流、收入持续下降或长期无收入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9281A-533F-43EE-AE5E-6A6B8603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DBEA0-6DA2-4DDF-837A-B8AAD6FD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622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取证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B9AFB-B218-4397-B45E-1C995293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400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rPr>
              <a:t>必须按 party_id 查询 EMC 经营流水最新 PT_DT 批次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F924E-5F7D-4020-803B-B6BB3C18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65337-2022-40BC-9997-5768C565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814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E95E4-5498-470A-9F06-C178DFAE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400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rPr>
              <a:t>只陈述事实数据，不替主复核做“是否下滑”的布尔结论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989B5-FFF3-4170-BE41-2923EEC1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0075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03DDC-E57A-4802-B4B4-1FD77500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005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65524-A1E8-4653-8CB3-2ACFCC02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400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rPr>
              <a:t>工具调用参数与返回结果需要全程可追踪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8625C-262D-4754-BDCC-2A2F3031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3349B-6940-4836-9DF5-8A9A6FCE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430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端到端执行链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348A4B-5098-48C7-907D-37AFF3D5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1562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C40"/>
          </a:solidFill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22C1A-3B05-4FEA-9DE2-F019FCC0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336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1CC73-BC44-42DC-9FD2-A4DDAB4C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风险提示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BAE50-7FED-4F86-B07C-4ED0C7F8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337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P002 流水下滑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822AC4-06FD-4523-BA5F-03F6DC90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38375"/>
            <a:ext cx="1562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C40"/>
          </a:solidFill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912FF5-966D-4250-A9DA-93E8FD87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E772E-625E-4768-8BDC-FFF2B1F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98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B45D0D-85DD-4BCB-A27A-87C7DB5F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匹配场景与规约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35979C-002E-4724-AE28-6D814524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38375"/>
            <a:ext cx="1562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C40"/>
          </a:solidFill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04224-078D-4161-8F52-F93F6307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336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F34B88-9DCE-4675-88F3-1FE7BE95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098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EC3B8F-0D4C-4FB1-9DA9-C9D5CDD7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337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JDBC 查询 GaussDB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0B282B-8C09-431D-B2A0-40E230A7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1562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C40"/>
          </a:solidFill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19EB91-2EC7-4455-8480-DE4E97F7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91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A740A2-D804-4ADC-9171-1F4269F5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672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A0F0F2-A2E0-4D1C-8ABB-CC3C34A9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9107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记录调用与结果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D99F55-7C13-431C-AD3D-405E4A66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1562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5364A"/>
          </a:solidFill>
          <a:ln xmlns:a="http://schemas.openxmlformats.org/drawingml/2006/main" w="9525">
            <a:solidFill>
              <a:srgbClr val="55D98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4C9F83-0CAC-41E1-A036-18AFAD74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DDF553-997F-41BC-B8B0-D96D0CB5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672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复核意见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B84DE7-0A85-4C41-A249-B66DB5A8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9107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仅基于事实输出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363236-DDFC-4040-8347-2ADF36E9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24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三类能力分工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2C32FB-704D-4FF2-B5D7-8CBCBC95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388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rPr>
              <a:t>Skill = 领域知识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F14F52-1E5B-47E7-911C-1530CBAB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388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rPr>
              <a:t>Tool = 真实世界动作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F0E60E-E65D-4275-8BAF-EE6259E9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8388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Rail = 横切治理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B1E874-6A4A-4F29-80A8-F15F39DF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A33187-FF22-4CD4-BBE8-D7C47B31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examples/risk_review_cashflow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2DDFCD-5648-4D6F-BFD0-BF7B7CD6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2 / 5</a:t>
            </a:r>
          </a:p>
        </p:txBody>
      </p:sp>
    </p:spTree>
    <p:extLst>
      <p:ext uri="{BB962C8B-B14F-4D97-AF65-F5344CB8AC3E}">
        <p14:creationId xmlns:p14="http://schemas.microsoft.com/office/powerpoint/2010/main" val="1890142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A12369-6E38-49E6-8222-75BB7A97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919A4-9225-46FA-8186-832B5AFE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F3777-11BD-4419-978D-48C9196E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 开发：把业务方法写成可执行规约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49860-A3D2-42A1-952B-A5076692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Skill 不负责取数，它告诉 Agent 何时调用哪个工具，以及输出必须遵守什么边界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F8897-FC7C-4191-9C37-87145225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DeepAgent 高码实战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C2B9F-9863-4210-8849-8A4BA1D8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628650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07141F"/>
          </a:solidFill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DF5EA-D9C5-4D7F-9BB3-33693CAB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62865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5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998D0-383B-4899-B93C-6E70A330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628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2F620-07E1-4372-933B-B145EC44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598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975" b="1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975" b="1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975" b="1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975" b="1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975" b="1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975" b="1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975" b="1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975" b="1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975" b="1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55D98B"/>
                </a:solidFill>
                <a:latin typeface="Consolas"/>
                <a:ea typeface="Consolas"/>
                <a:cs typeface="Consolas"/>
              </a:rPr>
              <a:t>skills/fund_cashflow_review_skill_java/SKILL.md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3D2D3-EF08-45D9-A114-7E576686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05025"/>
            <a:ext cx="5981700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---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name: fund_cashflow_review_skill_java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description: 经营流水下滑场景评估（Java tool 版）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## 触发条件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经营流水下滑、负现金流、收入持续下降、长期无收入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## 工具调用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cashflow_review({ party_id, company_id 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## 逻辑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按 PT_DT 降序取最新一行，返回经营性收支金额与笔数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BA386-220F-4346-8C39-DC81A985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716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6CAEC-3D3A-4977-9902-E75B400A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430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rPr>
              <a:t>开发时关注四件事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60167-36EC-4D24-9918-093BCDEB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9C983-4C97-4A36-9DEB-1559F70D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名称可识别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621FE-9029-4E52-9876-EA8BEDFF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front matter 的 name 必须与 skills 白名单一致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ECAD2-2F38-4B46-B667-AD6B3831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575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56418-DD8B-404C-AFE6-D576D27F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3847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触发词明确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436A8-6A84-42A6-87D2-0582D205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432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把业务语言写清楚，减少 Agent 自由猜测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37B75-892D-4B43-B1B1-A61B3B59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243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713FD-7EB3-4FCE-B379-800B94A4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0525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参数契约稳定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F6762-B7C1-4EE6-B18B-409B9B27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100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party_id 必填，company_id 可选并原样透传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E3A7B-1C16-47F8-A795-6E413250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9107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D9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D741E-4500-4C94-B40F-F359FF53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720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输出边界清楚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A27C2-1C35-4207-A4B6-B5917E53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7682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无数据如实返回，事实摘要不替代主复核决策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F63CF3-5B7F-41F2-ABE7-E82BEF8C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15000"/>
            <a:ext cx="4114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364A"/>
          </a:solidFill>
          <a:ln xmlns:a="http://schemas.openxmlformats.org/drawingml/2006/main" w="9525">
            <a:solidFill>
              <a:srgbClr val="55D9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20773-BB87-424F-AB40-7477BBB6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781675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rPr>
              <a:t>加载机制：skillDirectories 指向 skills 父目录，框架扫描子目录中的 SKILL.md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1E14E-FAE5-4F32-A8DB-103CE224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A7FAE3-A759-48BC-8D40-77A967A5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examples/risk_review_cashflow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130BCE-6B26-4095-B2FE-B0D7B0BF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3 / 5</a:t>
            </a:r>
          </a:p>
        </p:txBody>
      </p:sp>
    </p:spTree>
    <p:extLst>
      <p:ext uri="{BB962C8B-B14F-4D97-AF65-F5344CB8AC3E}">
        <p14:creationId xmlns:p14="http://schemas.microsoft.com/office/powerpoint/2010/main" val="138069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0D9164-EA14-453F-A72A-C7086DF1C321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0172700" y="54102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A9B1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D5B7CA-F702-4B09-B304-EF9F19062458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686800" y="54102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A9B1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5D9EE3-618D-4716-82B2-222DB05C8AF2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200900" y="54102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A9B1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0169EE-323C-4B8D-9291-178AE495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91AB3-112F-44BE-BBF8-BFC18AB4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4774B-2E66-4C30-88CF-7D212464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Tool 与 Rail：确定性执行和过程观测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73F91-1B52-49B6-AC59-51D80D45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业务查询放进 Tool，日志、审计与治理放进 Rail，两者互不侵入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953B8-740E-46EA-B6E1-F2DF9333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DeepAgent 高码实战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73837-09AC-4E22-819B-1B00C42B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238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07141F"/>
          </a:solidFill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3AF80-FF16-4160-9EED-F0C5886D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2387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5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7B84D-3722-4668-8D3C-4F66900D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523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D92F6-712A-4F02-83A2-2B5E9DFD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93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F4B860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975" b="1">
                <a:solidFill>
                  <a:srgbClr val="F4B860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975" b="1">
                <a:solidFill>
                  <a:srgbClr val="F4B860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975" b="1">
                <a:solidFill>
                  <a:srgbClr val="F4B860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975" b="1">
                <a:solidFill>
                  <a:srgbClr val="F4B860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975" b="1">
                <a:solidFill>
                  <a:srgbClr val="F4B860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975" b="1">
                <a:solidFill>
                  <a:srgbClr val="F4B860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975" b="1">
                <a:solidFill>
                  <a:srgbClr val="F4B860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975" b="1">
                <a:solidFill>
                  <a:srgbClr val="F4B860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975" b="1">
                <a:solidFill>
                  <a:srgbClr val="F4B86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4B860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4B860"/>
                </a:solidFill>
                <a:latin typeface="Consolas"/>
                <a:ea typeface="Consolas"/>
                <a:cs typeface="Consolas"/>
              </a:rPr>
              <a:t>CashflowReviewTool.java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F24AB-8CC4-4B1D-9D6B-8CA1672B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05025"/>
            <a:ext cx="4933950" cy="341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public final class CashflowReviewTool extends Tool {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public Object invoke(Map&lt;String, Object&gt; inputs, ...) {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String partyId = asText(inputs, "party_id");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if (partyId.isBlank()) return errorPayload(...);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Map&lt;String, String&gt; flow =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    client.getEmcFlowAnalysis(partyId);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return { success, total, company_id,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  operating_cashflow, assessment_summary };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8E0E9-AF88-4B2E-800E-B698D094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5238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7141F"/>
          </a:solidFill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43F7D-CD41-4905-B73A-B29876F2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52387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5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0C19D-9221-4A17-9D28-F4DAF8C0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523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3A6F8-16D8-4FF3-B7ED-A3F28028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62125"/>
            <a:ext cx="493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43D9D1"/>
                </a:solidFill>
                <a:latin typeface="Consolas"/>
                <a:ea typeface="Consolas"/>
                <a:cs typeface="Consolas"/>
              </a:rPr>
              <a:t>SkillResultPrintRail.java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AF231-7812-4D1E-A619-BC61AE10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05025"/>
            <a:ext cx="49339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public final class SkillResultPrintRail extends AgentRail {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public void beforeToolCall(AgentCallbackContext ctx) {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// 输出 toolName 与 toolArgs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public void afterToolCall(AgentCallbackContext ctx) {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// 输出 toolResult，超长内容截断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7A175-C21D-41A3-BCB4-7393FC2D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95825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B5D71-3013-4296-8283-B07011D5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67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一次调用发生了什么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49AE2-F2B9-40B3-951B-3813C76D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95875"/>
            <a:ext cx="12001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C40"/>
          </a:solidFill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F38C4-42B9-4994-9EB6-864A147D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95875"/>
            <a:ext cx="12001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C40"/>
          </a:solidFill>
          <a:ln xmlns:a="http://schemas.openxmlformats.org/drawingml/2006/main" w="9525">
            <a:solidFill>
              <a:srgbClr val="F4B86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6C49B-939D-41D8-91B6-7B30616D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95875"/>
            <a:ext cx="12001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C40"/>
          </a:solidFill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78D4E-DA5E-4CD2-8DD8-A78FFB67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95875"/>
            <a:ext cx="762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5364A"/>
          </a:solidFill>
          <a:ln xmlns:a="http://schemas.openxmlformats.org/drawingml/2006/main" w="9525">
            <a:solidFill>
              <a:srgbClr val="55D9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94B00-20A3-4CA9-87F6-65598B23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9112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before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65BF57-280B-4D09-9887-058AE6A2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292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记录入参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2D864-3261-478D-8D35-099B88CA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9112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C72FA4-BA75-4988-A935-8CE5FBAE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292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JDBC 查询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0B3A38-DA2F-446B-9246-9C46078E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9112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after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9EB79F-259C-476C-A05A-A291CDEE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292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记录结果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AB398E-73AD-48A1-9ECA-1EE78659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191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E8E72B-4168-4C7B-9A66-1889CBAD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429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汇总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AA79D8-2E07-4104-B7C1-357D8964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SQL 核心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085309-6073-4D21-868E-5348F05E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81675"/>
            <a:ext cx="4352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5D98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5D98B"/>
                </a:solidFill>
                <a:latin typeface="Consolas"/>
                <a:ea typeface="Consolas"/>
                <a:cs typeface="Consolas"/>
              </a:rPr>
              <a:t>WHERE MAIN_CIS = ?  ORDER BY PT_DT DESC  LIMIT 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E8D450-570B-49ED-9C0B-903C3C61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ToolCard 用 JSON Schema 声明 party_id 必填，错误返回结构化 payload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93C354-C2FD-4286-AA19-D069593B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EFADDA-C80E-4D1C-8254-057D2D9B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examples/risk_review_cashflow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311B85-6593-4DD9-8642-0F53AA29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4 / 5</a:t>
            </a:r>
          </a:p>
        </p:txBody>
      </p:sp>
    </p:spTree>
    <p:extLst>
      <p:ext uri="{BB962C8B-B14F-4D97-AF65-F5344CB8AC3E}">
        <p14:creationId xmlns:p14="http://schemas.microsoft.com/office/powerpoint/2010/main" val="491002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B449F0-8318-4E99-AC97-5968525D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291BE-9F96-404D-A38C-E46F5D20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987A8-605D-4BC7-BE1D-FE10EC5A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组装运行与生产化检查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B5DC9-6E0A-4C58-84B5-DBD90736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DeepAgentConfig 完成能力装配，registerHarnessTool 注入确定性工具，invoke 启动任务循环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B0006-D4C0-49B0-94C5-58238832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DeepAgent 高码实战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1EAF1-992D-46FB-AECE-AEECE3E8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6191250" cy="3876675"/>
          </a:xfrm>
          <a:prstGeom xmlns:a="http://schemas.openxmlformats.org/drawingml/2006/main" prst="roundRect">
            <a:avLst>
              <a:gd name="adj" fmla="val 1966"/>
            </a:avLst>
          </a:prstGeom>
          <a:solidFill xmlns:a="http://schemas.openxmlformats.org/drawingml/2006/main">
            <a:srgbClr val="07141F"/>
          </a:solidFill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B960B-7431-44A2-9295-0D2F65DF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61912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5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C2D0F-C165-4BE5-AD8C-EA02155B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619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63D22-F912-4F71-8589-9A70F55A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9D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43D9D1"/>
                </a:solidFill>
                <a:latin typeface="Consolas"/>
                <a:ea typeface="Consolas"/>
                <a:cs typeface="Consolas"/>
              </a:rPr>
              <a:t>DeepAgentCashflowSkillExample.java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1B80F-9C73-42DA-ACBF-1CDF8DA2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58864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DeepAgentConfig config = DeepAgentConfig.builder()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.enableTaskLoop(true)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.systemPrompt(SYSTEM_PROMPT)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.maxIterations(8)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.skillDirectories(List.of(skillDir.getParent().toString()))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.skills(List.of("fund_cashflow_review_skill_java"))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.rails(List.of(new SkillResultPrintRail()))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.build();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DeepAgent agent = HarnessFactory.createDeepAgent(card, config, ws);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agent.registerHarnessTool(new CashflowReviewTool(dbClient));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agent.ensureInitialized();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Map&lt;String, Object&gt; result = agent.invoke(inputs);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A02BD-F688-4B04-A3D4-456FE18E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260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0AAC0-D882-4C7E-AA10-2FB20457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2402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rPr>
              <a:t>样例验证数据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343F0-B533-4AD5-91D1-02C43801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P002 · PT_DT 20260630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17C3F-7C31-4D60-892D-2DBA6D88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479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5D98B"/>
                </a:solidFill>
                <a:latin typeface="Microsoft YaHei"/>
                <a:ea typeface="Microsoft YaHei"/>
                <a:cs typeface="Microsoft YaHei"/>
              </a:rPr>
              <a:t>¥280,000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A73E9-4DBD-4604-83B0-77C3DF39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575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经营收入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6B6A0-2B00-4941-9367-F1ADFFA0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479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4B860"/>
                </a:solidFill>
                <a:latin typeface="Microsoft YaHei"/>
                <a:ea typeface="Microsoft YaHei"/>
                <a:cs typeface="Microsoft YaHei"/>
              </a:rPr>
              <a:t>¥540,000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86A76-E6E0-4DA6-9EC1-C557825C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575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经营支出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9032A-9D8D-4233-8039-E989A329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26B6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26B6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26B6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26B6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26B6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26B6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26B6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26B6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26B6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26B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2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6B6B"/>
                </a:solidFill>
                <a:latin typeface="Microsoft YaHei"/>
                <a:ea typeface="Microsoft YaHei"/>
                <a:cs typeface="Microsoft YaHei"/>
              </a:rPr>
              <a:t>-¥260,000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319C5-D3B5-4652-8006-4E9CB018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净现金流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6A835-F240-463D-ACF3-F1EDD9B7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14725"/>
            <a:ext cx="4229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364A"/>
          </a:solidFill>
          <a:ln xmlns:a="http://schemas.openxmlformats.org/drawingml/2006/main" w="9525">
            <a:solidFill>
              <a:srgbClr val="55D98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2C4FB-C59F-4304-8930-45A73B7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0045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rPr>
              <a:t>输出策略：报告批次、收支金额与笔数；是否构成“下滑”由主复核判断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72820-D861-4B39-ADA1-160A4ADE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386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30F479-071B-4D44-A7F7-8153E019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3D9D1"/>
                </a:solidFill>
                <a:latin typeface="Microsoft YaHei"/>
                <a:ea typeface="Microsoft YaHei"/>
                <a:cs typeface="Microsoft YaHei"/>
              </a:rPr>
              <a:t>开发与运行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E97CF-6455-4E57-B756-E049B200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1965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ADACB-8CD4-4BB9-A6A5-AE4E3E6A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196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rPr>
              <a:t>准备 GaussDB 与 openGauss JDBC 驱动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EC674E-928B-4B73-9F10-6891030D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72075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F6A25C-6EB2-4912-BAC1-7DBB5E58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72075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rPr>
              <a:t>设置 GAUSS_* 环境变量，执行 run.ps1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D315E9-7FEA-47C5-BEE2-35B5B922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9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82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9C7E2-02FE-4520-BCFF-72C238B8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52450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rPr>
              <a:t>核对 Rail 日志与最终复核意见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079853-8D48-4596-B8FC-79BCF5DD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61912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15364A"/>
          </a:solidFill>
          <a:ln xmlns:a="http://schemas.openxmlformats.org/drawingml/2006/main" w="9525">
            <a:solidFill>
              <a:srgbClr val="F4B86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956219-FFE2-4CEA-AC3A-4FF0A5AD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581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AF3F7"/>
                </a:solidFill>
                <a:latin typeface="Microsoft YaHei"/>
                <a:ea typeface="Microsoft YaHei"/>
                <a:cs typeface="Microsoft YaHei"/>
              </a:rPr>
              <a:t>生产化检查：模型 API Key 改用密钥服务或环境变量；敏感日志脱敏；数据库账号只授予必要权限；补充 Tool、SQL 与异常路径测试。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9512CF-0020-4DE3-B667-468F63C6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8071E5-5661-4858-A5A0-0632AC6B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examples/risk_review_cashflow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A6B88C-4B86-4067-BCD5-200368ED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CB4C2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</p:spTree>
    <p:extLst>
      <p:ext uri="{BB962C8B-B14F-4D97-AF65-F5344CB8AC3E}">
        <p14:creationId xmlns:p14="http://schemas.microsoft.com/office/powerpoint/2010/main" val="1968397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2026-10-22T08:57:11.9180000Z</dcterms:created>
  <dcterms:modified xsi:type="dcterms:W3CDTF">2026-10-22T08:57:11.9180000Z</dcterms:modified>
</coreProperties>
</file>