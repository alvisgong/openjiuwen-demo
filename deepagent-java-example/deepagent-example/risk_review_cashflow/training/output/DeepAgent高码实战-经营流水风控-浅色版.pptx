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743fb9eb3451d" /><Relationship Type="http://schemas.openxmlformats.org/officeDocument/2006/relationships/extended-properties" Target="/docProps/app.xml" Id="Rbfeea5b35d994dff" /><Relationship Type="http://schemas.openxmlformats.org/officeDocument/2006/relationships/officeDocument" Target="/ppt/presentation.xml" Id="R71dab72d2e85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3e69b2f97414e"/>
  </p:sldMasterIdLst>
  <p:notesMasterIdLst>
    <p:notesMasterId xmlns:r="http://schemas.openxmlformats.org/officeDocument/2006/relationships" r:id="Rd73c5d30937a4e2b"/>
  </p:notesMasterIdLst>
  <p:sldIdLst>
    <p:sldId xmlns:r="http://schemas.openxmlformats.org/officeDocument/2006/relationships" id="256" r:id="Rf7ebdb75e526489b"/>
    <p:sldId xmlns:r="http://schemas.openxmlformats.org/officeDocument/2006/relationships" id="257" r:id="R859c204a0af8404d"/>
    <p:sldId xmlns:r="http://schemas.openxmlformats.org/officeDocument/2006/relationships" id="258" r:id="R3d2421e1e6d84dd4"/>
    <p:sldId xmlns:r="http://schemas.openxmlformats.org/officeDocument/2006/relationships" id="259" r:id="Ra7998a8d01484894"/>
    <p:sldId xmlns:r="http://schemas.openxmlformats.org/officeDocument/2006/relationships" id="260" r:id="R1b14b4a7c29a40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01b2fc54e04339" /><Relationship Type="http://schemas.openxmlformats.org/officeDocument/2006/relationships/slideMaster" Target="/ppt/slideMasters/slideMaster1.xml" Id="Reed3e69b2f97414e" /><Relationship Type="http://schemas.openxmlformats.org/officeDocument/2006/relationships/notesMaster" Target="/ppt/notesMasters/notesMaster1.xml" Id="Rd73c5d30937a4e2b" /><Relationship Type="http://schemas.openxmlformats.org/officeDocument/2006/relationships/presProps" Target="/ppt/presProps.xml" Id="Rc9acd2c2669f4c9c" /><Relationship Type="http://schemas.openxmlformats.org/officeDocument/2006/relationships/tableStyles" Target="/ppt/tableStyles.xml" Id="R7a4bddc76eb743cd" /><Relationship Type="http://schemas.openxmlformats.org/officeDocument/2006/relationships/slide" Target="/ppt/slides/slide1.xml" Id="Rf7ebdb75e526489b" /><Relationship Type="http://schemas.openxmlformats.org/officeDocument/2006/relationships/slide" Target="/ppt/slides/slide2.xml" Id="R859c204a0af8404d" /><Relationship Type="http://schemas.openxmlformats.org/officeDocument/2006/relationships/slide" Target="/ppt/slides/slide3.xml" Id="R3d2421e1e6d84dd4" /><Relationship Type="http://schemas.openxmlformats.org/officeDocument/2006/relationships/slide" Target="/ppt/slides/slide4.xml" Id="Ra7998a8d01484894" /><Relationship Type="http://schemas.openxmlformats.org/officeDocument/2006/relationships/slide" Target="/ppt/slides/slide5.xml" Id="R1b14b4a7c29a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4d7ec5c68041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133f8ed9794f2a" /><Relationship Type="http://schemas.openxmlformats.org/officeDocument/2006/relationships/notesMaster" Target="/ppt/notesMasters/notesMaster1.xml" Id="Rc84b109ec6e542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d8f7648994f7d" /><Relationship Type="http://schemas.openxmlformats.org/officeDocument/2006/relationships/notesMaster" Target="/ppt/notesMasters/notesMaster1.xml" Id="R11003811c56c40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2b0bf8e5ab44e3" /><Relationship Type="http://schemas.openxmlformats.org/officeDocument/2006/relationships/notesMaster" Target="/ppt/notesMasters/notesMaster1.xml" Id="R5dfd13cfe73748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1ca50ca0f640cc" /><Relationship Type="http://schemas.openxmlformats.org/officeDocument/2006/relationships/notesMaster" Target="/ppt/notesMasters/notesMaster1.xml" Id="R40e7068bd34441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2ef2092bc4867" /><Relationship Type="http://schemas.openxmlformats.org/officeDocument/2006/relationships/notesMaster" Target="/ppt/notesMasters/notesMaster1.xml" Id="Rd1441b21f446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16477a29d47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8d8c4cafe46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3b7989f6947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28a2bebbc40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111fadb0b4b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19a4e68d5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BF0D1A-0914-4D1A-B881-A33B97F14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516C54-6925-44E7-8BF1-888768D230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A569CB-E69A-4217-9B1D-28E2829A4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41F61D-47DF-400D-B8A6-76E950E0E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9EC70F-FF4C-421C-AC46-D71F45D956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3BBD5E-853D-4518-8BE3-BBBFD00A3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4CE73-E0D2-49C0-A7C5-049DEA020C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81201B-5EB3-426E-8665-551693DE82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D8561-4160-47FB-8801-5A2C3EDAFA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032991-E685-4BE7-9CB3-73BD90847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01ef8727c418b" /><Relationship Type="http://schemas.openxmlformats.org/officeDocument/2006/relationships/slideLayout" Target="/ppt/slideLayouts/slideLayout1.xml" Id="R67f92585f739434f" /><Relationship Type="http://schemas.openxmlformats.org/officeDocument/2006/relationships/slideLayout" Target="/ppt/slideLayouts/slideLayout2.xml" Id="Rc928ecbbbb044009" /><Relationship Type="http://schemas.openxmlformats.org/officeDocument/2006/relationships/slideLayout" Target="/ppt/slideLayouts/slideLayout3.xml" Id="R64d9328fa8194fcf" /><Relationship Type="http://schemas.openxmlformats.org/officeDocument/2006/relationships/slideLayout" Target="/ppt/slideLayouts/slideLayout4.xml" Id="Rb3cad4b5b0a64165" /><Relationship Type="http://schemas.openxmlformats.org/officeDocument/2006/relationships/slideLayout" Target="/ppt/slideLayouts/slideLayout5.xml" Id="R03da9237c1ae4b7e" /><Relationship Type="http://schemas.openxmlformats.org/officeDocument/2006/relationships/slideLayout" Target="/ppt/slideLayouts/slideLayout6.xml" Id="R12799ce6814849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f92585f739434f"/>
    <p:sldLayoutId xmlns:r="http://schemas.openxmlformats.org/officeDocument/2006/relationships" id="2147483650" r:id="Rc928ecbbbb044009"/>
    <p:sldLayoutId xmlns:r="http://schemas.openxmlformats.org/officeDocument/2006/relationships" id="2147483651" r:id="R64d9328fa8194fcf"/>
    <p:sldLayoutId xmlns:r="http://schemas.openxmlformats.org/officeDocument/2006/relationships" id="2147483652" r:id="Rb3cad4b5b0a64165"/>
    <p:sldLayoutId xmlns:r="http://schemas.openxmlformats.org/officeDocument/2006/relationships" id="2147483653" r:id="R03da9237c1ae4b7e"/>
    <p:sldLayoutId xmlns:r="http://schemas.openxmlformats.org/officeDocument/2006/relationships" id="2147483654" r:id="R12799ce6814849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587c28c774e84" /><Relationship Type="http://schemas.openxmlformats.org/officeDocument/2006/relationships/notesSlide" Target="/ppt/notesSlides/notesSlide1.xml" Id="Rc6c3bc7d4424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3b737d333481a" /><Relationship Type="http://schemas.openxmlformats.org/officeDocument/2006/relationships/notesSlide" Target="/ppt/notesSlides/notesSlide2.xml" Id="R8fde273d350945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e3ab1dbfc4ffd" /><Relationship Type="http://schemas.openxmlformats.org/officeDocument/2006/relationships/notesSlide" Target="/ppt/notesSlides/notesSlide3.xml" Id="Rd33bf5371e6e4d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1bebcbb7d47be" /><Relationship Type="http://schemas.openxmlformats.org/officeDocument/2006/relationships/notesSlide" Target="/ppt/notesSlides/notesSlide4.xml" Id="Rf6e5c9d8818243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808d813e8437d" /><Relationship Type="http://schemas.openxmlformats.org/officeDocument/2006/relationships/notesSlide" Target="/ppt/notesSlides/notesSlide5.xml" Id="R6ff32e317a564e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EB2B4-A729-4A5B-907F-5E5C492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79ADE-C83B-45CC-81E6-AB731F5B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DEEPAGENT · HANDS-ON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390D6-F2D9-4DBA-9C75-7FC5FEEC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DeepAgent</a:t>
            </a:r>
          </a:p>
          <a:p xmlns:a="http://schemas.openxmlformats.org/drawingml/2006/main">
            <a:pPr algn="l">
              <a:def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高码实战培训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11973-6CA1-403F-818E-691562CF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经营流水风险复核场景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6B6EB-D1A8-4ED5-93D8-3D3EA5D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用 Skill 固化领域方法，用 Tool 连接真实数据，</a:t>
            </a:r>
          </a:p>
          <a:p xmlns:a="http://schemas.openxmlformats.org/drawingml/2006/main">
            <a:pPr algn="l">
              <a:def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用 Rail 记录执行过程。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481BB-BD65-4CF7-AFA4-5591E1D1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04950"/>
            <a:ext cx="304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6F2F4"/>
          </a:solidFill>
          <a:ln xmlns:a="http://schemas.openxmlformats.org/drawingml/2006/main" w="9525">
            <a:solidFill>
              <a:srgbClr val="159D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4396C-2364-414D-8A03-BA5BA66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676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DeepAgent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F3603-4174-4521-83C9-9DB27401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0502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推理 · 编排 · 迭代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F7D1B-FFF1-45B3-A102-D6E71795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60C8C-C2C3-4F14-814B-B5834B6B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83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E3A4C-6BC4-4AAC-B5ED-0BCA37D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D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2B205-81FB-4306-BD98-56BD2CEB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B1DB9-65D2-442E-8AF5-7D642EFE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领域规约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E6D5A-74D9-4D4D-9BF8-6B784D47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BA05C-033B-4EB8-A7FF-DD2A9650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确定性执行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077A2-16C3-4FDD-82EF-EE94B6D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10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03F93-BD9C-400D-92AB-7A77268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334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过程观测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FA14A-255A-46F5-8005-1E70B7E0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86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D1F9F-0C81-45E3-899B-AF6EA9A5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86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CD214-116F-4EFA-92A4-042ADEB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386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7AB8C-5F33-481F-8D7B-B06121CA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386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D04FC-7BCF-407F-9FF6-E5657AAE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基于 agent-core-java 样例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B5A9D-3AB4-42E5-94C7-7691A92B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74390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DD904B-EE7D-4779-B4FF-EAE47E8D28F8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467600" y="46482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67AFB0-A855-440E-A5E8-EE5E6275DA75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6686550" y="3343275"/>
            <a:ext cx="3733800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2503CA-12DF-4025-8A67-CEB913C3ABD9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334500" y="2790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B00C6F-FC5B-4256-916B-4A40309C8DDC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467600" y="2790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C3EFD8-CE23-4282-8A40-66E33DC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2D62C-88ED-4A66-936E-9D2DFBA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2CB21-E512-4977-9976-EE1F220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风控需求与整体方案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D707F-756D-480E-B44C-0030830D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把一期模型的风险提示，转化为有数据依据、可审计的复核意见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65DEB-17B8-46C4-82D6-320676C5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4B93C-F5C4-4690-A88A-2194AF50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0F084-48AC-417C-B059-677D2D9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rPr>
              <a:t>业务约束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D0ABE-1A40-46B8-9049-A505251B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7B0B7-B2FF-4A3F-9F2F-6C3FD473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一期 COT 出现经营流水下滑、负现金流、收入持续下降或长期无收入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28E0B-5F6F-46E8-BA5F-458237DD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9CC42-3547-41B0-A494-3CC095A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2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F7464-6E2D-4D15-9FA8-D6C21788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必须按 party_id 查询 EMC 经营流水最新 PT_DT 批次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AFE31-61F1-4099-9BE8-6B726FF3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CA356-227A-45AD-A62F-E8E37B9F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2B8BD-6178-4951-A8C6-03BBABD7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只陈述事实数据，不替主复核做“是否下滑”的布尔结论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FCA33-4F4E-45B6-BDF6-7A04944F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4BD9B-250F-4BBB-810E-E410776E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2553B-293C-474F-B10E-F37854C1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400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工具调用参数与返回结果需要全程可追踪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C19FA-97CB-4589-A1A8-24940287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52F75-45E9-4106-A9A2-701E98B5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43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端到端执行链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B270F-3678-4192-A4E5-72ED2208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FA1DF-78AD-4533-B6DE-5119D2A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33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31086-B113-47CF-9118-DDF2FA7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风险提示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96C43-80D7-4545-BD17-503CFED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33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P002 流水下滑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3010D-586F-4C82-93D3-C4B3994F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38375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8B8DF-FBB2-4B60-90F4-FD86362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EAAA6-736F-4D89-B2AC-70A7766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F4E6B-B0CE-4467-9037-E0780F5C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匹配场景与规约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71F80-1A5D-43F0-95F3-53D676F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38375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15FE6-A033-4ABF-9ADB-32513B60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33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0DEDB-97FA-4B29-8F36-056FAA41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B182B-7790-419D-9163-6DF217C3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JDBC 查询 GaussDB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42614-EA0E-4DA2-9649-1214A8A4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739CD6-A837-44D7-BD89-F086C01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58A310-955D-436A-8856-D2F9B4E2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672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Rail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8CC2D-FF33-45EA-860A-A05EA9E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910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记录调用与结果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D36E0E-0A8A-4E67-A7A7-F64EC3C0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1562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2F4"/>
          </a:solidFill>
          <a:ln xmlns:a="http://schemas.openxmlformats.org/drawingml/2006/main" w="9525">
            <a:solidFill>
              <a:srgbClr val="168D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A33E60-077C-47B4-A029-F0B778CE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219358-DE0B-45A1-8457-8E7A8D8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672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复核意见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8DE5FF-33B6-4704-B3C6-4498A05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仅基于事实输出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1FB376-692F-4158-8FCF-98647B7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三类能力分工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5871B9-FC9E-48B7-B148-C39D3889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38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Skill = 领域知识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F1E17A-B1F2-44BC-92ED-D729BA49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38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rPr>
              <a:t>Tool = 真实世界动作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3B97A9-6533-435C-A6D7-B5E1C1CD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838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Rail = 横切治理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607C69-A4E4-4AB3-9F20-3B15D09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654305-A15D-4B68-83D7-289DC939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CAD563-EBA4-4EF8-951D-876B1725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1698169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0E267-9E1A-4CA5-A9DA-CA350DA8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1B262-7E3D-49F8-AEA4-980FB13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47EA6-4647-4728-8D71-1EA53CAF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Skill 开发：把业务方法写成可执行规约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DA2AA-A260-4558-A6F7-521EAB5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Skill 不负责取数，它告诉 Agent 何时调用哪个工具，以及输出必须遵守什么边界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71F50-5127-4459-A494-7FBB2A9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01E70-0AC7-410E-A7C9-0049854B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28650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112A3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F6BC9-1B64-4584-BD5A-F6F019B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62865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235BD-81DE-43B2-9F2D-47C1FEF4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28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06FBC-8B3F-4EB3-938D-BBE1833C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98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68D5B"/>
                </a:solidFill>
                <a:latin typeface="Consolas"/>
                <a:ea typeface="Consolas"/>
                <a:cs typeface="Consolas"/>
              </a:rPr>
              <a:t>skills/fund_cashflow_review_skill_java/SKILL.md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2A8B5-A233-4F02-B8E5-F6BA0CC5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59817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---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name: fund_cashflow_review_skill_java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description: 经营流水下滑场景评估（Java tool 版）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## 触发条件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经营流水下滑、负现金流、收入持续下降、长期无收入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## 工具调用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cashflow_review({ party_id, company_id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## 逻辑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按 PT_DT 降序取最新一行，返回经营性收支金额与笔数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C102D-D314-4126-AA6F-FB9DD24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71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DEBA6-F081-4189-98E9-4576847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43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开发时关注四件事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E0CA4-6B8F-4A13-8A46-9034A81E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F3566-CFE0-475D-83AA-E795BC68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名称可识别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8A21F-8103-49EF-8B63-507837E7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front matter 的 name 必须与 skills 白名单一致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ECFDF-EE33-4E30-BDA9-AE2EC19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575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3F074-C8B3-4770-8A83-9F7B7ECB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触发词明确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77649-B1A3-410B-81FA-129487B4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把业务语言写清楚，减少 Agent 自由猜测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F0EAA-3515-4BA3-9FDF-26429A36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243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E8485-5794-4F47-88AE-9B466FD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52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参数契约稳定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BAEAD-16A5-4E94-BEF3-839C149F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100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party_id 必填，company_id 可选并原样透传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4B8F9-FC0D-4BA3-B6F4-4A973617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910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D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BBCBA-0240-4605-B7D6-5ADE880C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720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输出边界清楚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76849-2879-4E21-997E-C1D9182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768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无数据如实返回，事实摘要不替代主复核决策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9A40A-7ECE-4D98-9B64-066CA5AA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15000"/>
            <a:ext cx="4114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F2F4"/>
          </a:solidFill>
          <a:ln xmlns:a="http://schemas.openxmlformats.org/drawingml/2006/main" w="9525">
            <a:solidFill>
              <a:srgbClr val="168D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4DDD6-B318-447A-8B7B-468835F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81675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加载机制：skillDirectories 指向 skills 父目录，框架扫描子目录中的 SKILL.md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A10696-AC21-49FA-A5D9-307C51FD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74A93F-61AE-406E-BF36-F489222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DEF33-C080-4346-B04A-9C941565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779470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EFBE26-C49C-4E42-8624-21C1D115EB1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172700" y="54102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4F25D-AC81-40A3-97E3-93AFAD3BDD9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86800" y="54102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2CAEF6-36B8-46F2-8D2E-B5DAF0002813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200900" y="54102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3B4B9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166D8A-2B44-4771-8433-5A26FFF3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738FF-7DB5-484C-9322-EAA2FB1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FF6FC-4388-4F6F-B1D0-91DABC9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Tool 与 Rail：确定性执行和过程观测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CCD04-B49D-44EB-8DAC-4863A530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业务查询放进 Tool，日志、审计与治理放进 Rail，两者互不侵入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BD145-3220-470C-9A63-55C7FC2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09B0D-7708-49ED-A61B-1DFC8E2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238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12A3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7AD71-2120-4D1B-92BC-3BE9A760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238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6FB9D-AED1-4615-89F5-1122D3B0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523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B88B6-6317-4E57-A843-11A01DC9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D98317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D98317"/>
                </a:solidFill>
                <a:latin typeface="Consolas"/>
                <a:ea typeface="Consolas"/>
                <a:cs typeface="Consolas"/>
              </a:rPr>
              <a:t>CashflowReviewTool.java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21691-CD97-4F87-AA69-155731A8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05025"/>
            <a:ext cx="4933950" cy="341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public final class CashflowReviewTool extends Tool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public Object invoke(Map&lt;String, Object&gt; inputs, ...)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String partyId = asText(inputs, "party_id");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if (partyId.isBlank()) return errorPayload(...);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Map&lt;String, String&gt; flow =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    client.getEmcFlowAnalysis(partyId);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return { success, total, company_id,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  operating_cashflow, assessment_summary };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CF7CC-72F1-4A10-9BFE-E361F89E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238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2A3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DBD85-B61B-485C-9F1D-6A183FA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238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5C332-1625-4F06-971A-04BA1F8C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523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3F2B6-DA62-43C4-B325-AC613DA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62125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9DA5"/>
                </a:solidFill>
                <a:latin typeface="Consolas"/>
                <a:ea typeface="Consolas"/>
                <a:cs typeface="Consolas"/>
              </a:rPr>
              <a:t>SkillResultPrintRail.java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D84C5-A37B-4E6D-83A1-DC9CFA28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05025"/>
            <a:ext cx="49339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public final class SkillResultPrintRail extends AgentRail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public void beforeToolCall(AgentCallbackContext ctx)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// 输出 toolName 与 toolArgs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public void afterToolCall(AgentCallbackContext ctx) {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// 输出 toolResult，超长内容截断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A9624-6E85-4298-9EAA-F97E792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95825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259A3-F18B-4676-B23F-73BFA98C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67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一次调用发生了什么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2C6F7-42D5-4C4C-9889-9E638C14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12001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B8A99-F2CF-4094-9BF8-0BD518D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95875"/>
            <a:ext cx="12001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83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A9B74-E940-4AE7-B55C-9CC5A15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95875"/>
            <a:ext cx="12001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5F085-D284-49A6-8D01-26F5A279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095875"/>
            <a:ext cx="762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6F2F4"/>
          </a:solidFill>
          <a:ln xmlns:a="http://schemas.openxmlformats.org/drawingml/2006/main" w="9525">
            <a:solidFill>
              <a:srgbClr val="168D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8FBF5-3D17-48D2-937A-89D544E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911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B3FAF-B164-48A3-BA70-4267D82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记录入参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F78B8-241A-4A8D-9B43-94ED56B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A36C8-577B-4096-9763-ECF30724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JDBC 查询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9569E-E254-4671-898A-3D88E93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911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2F377-CCCE-4101-9375-E8E29037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292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记录结果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E58A2-648B-4475-A470-8EB5280C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91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2FF74-B44F-4269-9693-2500AA89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29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汇总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B1974B-1C57-4F18-9E6F-61E481A5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SQL 核心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70C85-DA71-492F-B666-9E1885C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81675"/>
            <a:ext cx="4352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68D5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68D5B"/>
                </a:solidFill>
                <a:latin typeface="Consolas"/>
                <a:ea typeface="Consolas"/>
                <a:cs typeface="Consolas"/>
              </a:rPr>
              <a:t>WHERE MAIN_CIS = ?  ORDER BY PT_DT DESC  LIMIT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BEAE7-43A1-40F0-89F5-C7640D0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ToolCard 用 JSON Schema 声明 party_id 必填，错误返回结构化 payload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A8838E-2DCA-4CB4-A23D-33A5215E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92E842-24B2-4A96-95CC-404D4F99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DE48B5-4A23-4ECA-8336-24F3F7D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219260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95F430-3FAA-4794-8EE2-9E89E2D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5D973-E7F1-4F09-A2D2-504577D7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898D-C661-47C4-AA0B-834CE3C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组装运行与生产化检查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DB99D-B9FA-4A80-8254-BDC009E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DeepAgentConfig 完成能力装配，registerHarnessTool 注入确定性工具，invoke 启动任务循环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C2702-C49B-4210-8D66-C6DBA293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DeepAgent 高码实战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3648-DCC5-47B3-AB66-E82C183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6191250" cy="3876675"/>
          </a:xfrm>
          <a:prstGeom xmlns:a="http://schemas.openxmlformats.org/drawingml/2006/main" prst="roundRect">
            <a:avLst>
              <a:gd name="adj" fmla="val 1966"/>
            </a:avLst>
          </a:prstGeom>
          <a:solidFill xmlns:a="http://schemas.openxmlformats.org/drawingml/2006/main">
            <a:srgbClr val="112A3A"/>
          </a:solidFill>
          <a:ln xmlns:a="http://schemas.openxmlformats.org/drawingml/2006/main" w="9525">
            <a:solidFill>
              <a:srgbClr val="C9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5F4EA-44B5-441A-A243-FEC0E246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61912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DE7AC-382D-48B4-AFE0-0AB2FE48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3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50F35-008D-42A5-B15E-D5A6F827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59DA5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59DA5"/>
                </a:solidFill>
                <a:latin typeface="Consolas"/>
                <a:ea typeface="Consolas"/>
                <a:cs typeface="Consolas"/>
              </a:rPr>
              <a:t>DeepAgentCashflowSkillExample.java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871E0-153A-4642-B192-C279C33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58864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DeepAgentConfig config = DeepAgentConfig.builder()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.enableTaskLoop(true)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.systemPrompt(SYSTEM_PROMPT)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.maxIterations(8)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.skillDirectories(List.of(skillDir.getParent().toString()))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.skills(List.of("fund_cashflow_review_skill_java"))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.rails(List.of(new SkillResultPrintRail()))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    .build();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DeepAgent agent = HarnessFactory.createDeepAgent(card, config, ws);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agent.registerHarnessTool(new CashflowReviewTool(dbClient));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agent.ensureInitialized();</a:t>
            </a:r>
          </a:p>
          <a:p xmlns:a="http://schemas.openxmlformats.org/drawingml/2006/main">
            <a:pPr algn="l">
              <a:defRPr sz="1125" b="0">
                <a:solidFill>
                  <a:srgbClr val="D7E7E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7E7EE"/>
                </a:solidFill>
                <a:latin typeface="Consolas"/>
                <a:ea typeface="Consolas"/>
                <a:cs typeface="Consolas"/>
              </a:rPr>
              <a:t>Map&lt;String, Object&gt; result = agent.invoke(inputs);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8BC62-BD28-47D7-A2CB-384F27E8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C4128-2BD7-44D5-9B02-ED64BBB5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样例验证数据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A1FEB-189D-428D-ADED-4D62A7D0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3A"/>
                </a:solidFill>
                <a:latin typeface="Microsoft YaHei"/>
                <a:ea typeface="Microsoft YaHei"/>
                <a:cs typeface="Microsoft YaHei"/>
              </a:rPr>
              <a:t>P002 · PT_DT 20260630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2EAC8-2A16-4773-910B-8773632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479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D5B"/>
                </a:solidFill>
                <a:latin typeface="Microsoft YaHei"/>
                <a:ea typeface="Microsoft YaHei"/>
                <a:cs typeface="Microsoft YaHei"/>
              </a:rPr>
              <a:t>¥280,000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D4B0C-0A8B-486E-82FD-FC940BF2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575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经营收入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56D0E-6395-4192-9A04-92EFF1D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479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98317"/>
                </a:solidFill>
                <a:latin typeface="Microsoft YaHei"/>
                <a:ea typeface="Microsoft YaHei"/>
                <a:cs typeface="Microsoft YaHei"/>
              </a:rPr>
              <a:t>¥540,000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1F1CE-3A1E-4CCE-9E5A-3F85F9B2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575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经营支出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422EB-CAA5-49EE-B9FE-44E4F68B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4B4B"/>
                </a:solidFill>
                <a:latin typeface="Microsoft YaHei"/>
                <a:ea typeface="Microsoft YaHei"/>
                <a:cs typeface="Microsoft YaHei"/>
              </a:rPr>
              <a:t>-¥260,000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1F4F9-7AF0-4A1F-B9B0-921D3778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净现金流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274A0-E2DA-4112-83BA-F4CC395D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14725"/>
            <a:ext cx="4229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F4"/>
          </a:solidFill>
          <a:ln xmlns:a="http://schemas.openxmlformats.org/drawingml/2006/main" w="9525">
            <a:solidFill>
              <a:srgbClr val="168D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141E6-C85C-4F6F-B374-190B813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04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输出策略：报告批次、收支金额与笔数；是否构成“下滑”由主复核判断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EA970-0548-4A73-A4CA-7D0BFAD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B8EA2-2EEA-4E6F-A2E6-4F4B66B5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9DA5"/>
                </a:solidFill>
                <a:latin typeface="Microsoft YaHei"/>
                <a:ea typeface="Microsoft YaHei"/>
                <a:cs typeface="Microsoft YaHei"/>
              </a:rPr>
              <a:t>开发与运行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18809-FFA6-4A73-9510-FD393C2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58E06-1BE6-42FE-AB94-0CF4E3C0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965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准备 GaussDB 与 openGauss JDBC 驱动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8FA28-72C6-4D04-9F1E-73F5EF8D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72075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3CC40-2E49-44B3-B8C9-83B43B68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7207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设置 GAUSS_* 环境变量，执行 run.ps1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CD8CC-3959-4F45-9630-1E80AB4A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0"/>
            <a:ext cx="285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8B42CB-EDE6-4802-AE14-ACB6183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245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核对 Rail 日志与最终复核意见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08864-9421-4E51-84B0-A383A92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61912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6F2F4"/>
          </a:solidFill>
          <a:ln xmlns:a="http://schemas.openxmlformats.org/drawingml/2006/main" w="9525">
            <a:solidFill>
              <a:srgbClr val="D9831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C0EDAE-BD1A-4EF5-8640-C19D2A45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142"/>
                </a:solidFill>
                <a:latin typeface="Microsoft YaHei"/>
                <a:ea typeface="Microsoft YaHei"/>
                <a:cs typeface="Microsoft YaHei"/>
              </a:rPr>
              <a:t>生产化检查：模型 API Key 改用密钥服务或环境变量；敏感日志脱敏；数据库账号只授予必要权限；补充 Tool、SQL 与异常路径测试。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BF8C0-910A-47AF-A9F4-B609DC9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2456C-BDFC-4287-B6B6-1A8C7E6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examples/risk_review_cashflow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B75538-7458-4CDC-8DD8-21773D5F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7481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90045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2026-10-22T09:07:09.9880000Z</dcterms:created>
  <dcterms:modified xsi:type="dcterms:W3CDTF">2026-10-22T09:07:09.9890000Z</dcterms:modified>
</coreProperties>
</file>